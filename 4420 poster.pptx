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6971D5-85B3-2E45-827F-107697C6545F}" v="53" dt="2026-04-15T01:49:04.9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69"/>
  </p:normalViewPr>
  <p:slideViewPr>
    <p:cSldViewPr snapToGrid="0">
      <p:cViewPr>
        <p:scale>
          <a:sx n="87" d="100"/>
          <a:sy n="87" d="100"/>
        </p:scale>
        <p:origin x="133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da Li" userId="548712ef-b346-4164-ab4c-98259b40301a" providerId="ADAL" clId="{0F6971D5-85B3-2E45-827F-107697C6545F}"/>
    <pc:docChg chg="undo custSel modSld">
      <pc:chgData name="Jiada Li" userId="548712ef-b346-4164-ab4c-98259b40301a" providerId="ADAL" clId="{0F6971D5-85B3-2E45-827F-107697C6545F}" dt="2026-04-15T02:28:23.521" v="899" actId="1076"/>
      <pc:docMkLst>
        <pc:docMk/>
      </pc:docMkLst>
      <pc:sldChg chg="addSp delSp modSp mod">
        <pc:chgData name="Jiada Li" userId="548712ef-b346-4164-ab4c-98259b40301a" providerId="ADAL" clId="{0F6971D5-85B3-2E45-827F-107697C6545F}" dt="2026-04-15T02:28:23.521" v="899" actId="1076"/>
        <pc:sldMkLst>
          <pc:docMk/>
          <pc:sldMk cId="1849858891" sldId="256"/>
        </pc:sldMkLst>
        <pc:spChg chg="add del mod">
          <ac:chgData name="Jiada Li" userId="548712ef-b346-4164-ab4c-98259b40301a" providerId="ADAL" clId="{0F6971D5-85B3-2E45-827F-107697C6545F}" dt="2026-04-15T01:16:41.578" v="3"/>
          <ac:spMkLst>
            <pc:docMk/>
            <pc:sldMk cId="1849858891" sldId="256"/>
            <ac:spMk id="3" creationId="{C35D60F0-66F2-3EFF-74A7-6D90EE997197}"/>
          </ac:spMkLst>
        </pc:spChg>
        <pc:spChg chg="add del mod">
          <ac:chgData name="Jiada Li" userId="548712ef-b346-4164-ab4c-98259b40301a" providerId="ADAL" clId="{0F6971D5-85B3-2E45-827F-107697C6545F}" dt="2026-04-15T01:16:46.241" v="5"/>
          <ac:spMkLst>
            <pc:docMk/>
            <pc:sldMk cId="1849858891" sldId="256"/>
            <ac:spMk id="4" creationId="{CB591D71-5471-F896-46EE-389582580C08}"/>
          </ac:spMkLst>
        </pc:spChg>
        <pc:spChg chg="add del">
          <ac:chgData name="Jiada Li" userId="548712ef-b346-4164-ab4c-98259b40301a" providerId="ADAL" clId="{0F6971D5-85B3-2E45-827F-107697C6545F}" dt="2026-04-15T01:16:49.321" v="7" actId="22"/>
          <ac:spMkLst>
            <pc:docMk/>
            <pc:sldMk cId="1849858891" sldId="256"/>
            <ac:spMk id="10" creationId="{5C225B39-A088-3188-2727-A8821E168496}"/>
          </ac:spMkLst>
        </pc:spChg>
        <pc:spChg chg="add del mod">
          <ac:chgData name="Jiada Li" userId="548712ef-b346-4164-ab4c-98259b40301a" providerId="ADAL" clId="{0F6971D5-85B3-2E45-827F-107697C6545F}" dt="2026-04-15T01:17:02.171" v="14"/>
          <ac:spMkLst>
            <pc:docMk/>
            <pc:sldMk cId="1849858891" sldId="256"/>
            <ac:spMk id="14" creationId="{49E160B0-6888-552D-56AF-37FB8AA13254}"/>
          </ac:spMkLst>
        </pc:spChg>
        <pc:spChg chg="add mod">
          <ac:chgData name="Jiada Li" userId="548712ef-b346-4164-ab4c-98259b40301a" providerId="ADAL" clId="{0F6971D5-85B3-2E45-827F-107697C6545F}" dt="2026-04-15T01:39:15.497" v="518" actId="20577"/>
          <ac:spMkLst>
            <pc:docMk/>
            <pc:sldMk cId="1849858891" sldId="256"/>
            <ac:spMk id="16" creationId="{D7FD89DA-7DEF-B258-879F-2FBE2226A451}"/>
          </ac:spMkLst>
        </pc:spChg>
        <pc:spChg chg="add del mod">
          <ac:chgData name="Jiada Li" userId="548712ef-b346-4164-ab4c-98259b40301a" providerId="ADAL" clId="{0F6971D5-85B3-2E45-827F-107697C6545F}" dt="2026-04-15T01:25:31.546" v="101" actId="478"/>
          <ac:spMkLst>
            <pc:docMk/>
            <pc:sldMk cId="1849858891" sldId="256"/>
            <ac:spMk id="18" creationId="{F14C357C-242C-E66A-137C-F87F5C232417}"/>
          </ac:spMkLst>
        </pc:spChg>
        <pc:spChg chg="mod">
          <ac:chgData name="Jiada Li" userId="548712ef-b346-4164-ab4c-98259b40301a" providerId="ADAL" clId="{0F6971D5-85B3-2E45-827F-107697C6545F}" dt="2026-04-15T01:41:33.242" v="534" actId="1076"/>
          <ac:spMkLst>
            <pc:docMk/>
            <pc:sldMk cId="1849858891" sldId="256"/>
            <ac:spMk id="27" creationId="{4DCFEE4C-96F0-C0B6-D22E-EFC7F6648D42}"/>
          </ac:spMkLst>
        </pc:spChg>
        <pc:spChg chg="mod">
          <ac:chgData name="Jiada Li" userId="548712ef-b346-4164-ab4c-98259b40301a" providerId="ADAL" clId="{0F6971D5-85B3-2E45-827F-107697C6545F}" dt="2026-04-15T01:44:48.299" v="644" actId="20577"/>
          <ac:spMkLst>
            <pc:docMk/>
            <pc:sldMk cId="1849858891" sldId="256"/>
            <ac:spMk id="29" creationId="{A1A8ED24-FC03-D42D-4DA4-5606BA3E41B4}"/>
          </ac:spMkLst>
        </pc:spChg>
        <pc:spChg chg="mod">
          <ac:chgData name="Jiada Li" userId="548712ef-b346-4164-ab4c-98259b40301a" providerId="ADAL" clId="{0F6971D5-85B3-2E45-827F-107697C6545F}" dt="2026-04-15T01:49:32.688" v="898" actId="113"/>
          <ac:spMkLst>
            <pc:docMk/>
            <pc:sldMk cId="1849858891" sldId="256"/>
            <ac:spMk id="32" creationId="{A5E72279-EA8F-7D30-A34C-F03BC040B850}"/>
          </ac:spMkLst>
        </pc:spChg>
        <pc:spChg chg="mod">
          <ac:chgData name="Jiada Li" userId="548712ef-b346-4164-ab4c-98259b40301a" providerId="ADAL" clId="{0F6971D5-85B3-2E45-827F-107697C6545F}" dt="2026-04-15T01:46:20.590" v="658" actId="1076"/>
          <ac:spMkLst>
            <pc:docMk/>
            <pc:sldMk cId="1849858891" sldId="256"/>
            <ac:spMk id="34" creationId="{59BCEA52-DE73-D2C1-ED32-D1E14D3F88E2}"/>
          </ac:spMkLst>
        </pc:spChg>
        <pc:spChg chg="mod">
          <ac:chgData name="Jiada Li" userId="548712ef-b346-4164-ab4c-98259b40301a" providerId="ADAL" clId="{0F6971D5-85B3-2E45-827F-107697C6545F}" dt="2026-04-15T01:48:46.668" v="890" actId="20577"/>
          <ac:spMkLst>
            <pc:docMk/>
            <pc:sldMk cId="1849858891" sldId="256"/>
            <ac:spMk id="36" creationId="{6919C17F-7A10-8D6F-3E05-E187A359625D}"/>
          </ac:spMkLst>
        </pc:spChg>
        <pc:spChg chg="mod">
          <ac:chgData name="Jiada Li" userId="548712ef-b346-4164-ab4c-98259b40301a" providerId="ADAL" clId="{0F6971D5-85B3-2E45-827F-107697C6545F}" dt="2026-04-15T01:49:00.121" v="892" actId="1076"/>
          <ac:spMkLst>
            <pc:docMk/>
            <pc:sldMk cId="1849858891" sldId="256"/>
            <ac:spMk id="38" creationId="{BC9559D7-5281-2428-7711-D533D437D889}"/>
          </ac:spMkLst>
        </pc:spChg>
        <pc:spChg chg="add mod">
          <ac:chgData name="Jiada Li" userId="548712ef-b346-4164-ab4c-98259b40301a" providerId="ADAL" clId="{0F6971D5-85B3-2E45-827F-107697C6545F}" dt="2026-04-15T01:49:11.195" v="897" actId="20577"/>
          <ac:spMkLst>
            <pc:docMk/>
            <pc:sldMk cId="1849858891" sldId="256"/>
            <ac:spMk id="39" creationId="{94DD5608-D4C8-17F3-13A6-31642A5D8A5A}"/>
          </ac:spMkLst>
        </pc:spChg>
        <pc:picChg chg="add mod">
          <ac:chgData name="Jiada Li" userId="548712ef-b346-4164-ab4c-98259b40301a" providerId="ADAL" clId="{0F6971D5-85B3-2E45-827F-107697C6545F}" dt="2026-04-15T01:32:18.997" v="360" actId="14100"/>
          <ac:picMkLst>
            <pc:docMk/>
            <pc:sldMk cId="1849858891" sldId="256"/>
            <ac:picMk id="24" creationId="{DE97CFCF-B2C6-8824-03CC-389BB6203E57}"/>
          </ac:picMkLst>
        </pc:picChg>
        <pc:picChg chg="add mod">
          <ac:chgData name="Jiada Li" userId="548712ef-b346-4164-ab4c-98259b40301a" providerId="ADAL" clId="{0F6971D5-85B3-2E45-827F-107697C6545F}" dt="2026-04-15T01:30:59.073" v="269" actId="1076"/>
          <ac:picMkLst>
            <pc:docMk/>
            <pc:sldMk cId="1849858891" sldId="256"/>
            <ac:picMk id="28" creationId="{A873F7BD-ABCC-E843-FF65-E76EE1BD8DEA}"/>
          </ac:picMkLst>
        </pc:picChg>
        <pc:picChg chg="mod">
          <ac:chgData name="Jiada Li" userId="548712ef-b346-4164-ab4c-98259b40301a" providerId="ADAL" clId="{0F6971D5-85B3-2E45-827F-107697C6545F}" dt="2026-04-15T01:46:14.369" v="655" actId="1076"/>
          <ac:picMkLst>
            <pc:docMk/>
            <pc:sldMk cId="1849858891" sldId="256"/>
            <ac:picMk id="30" creationId="{0FA33D50-9A06-1B8C-206F-9E672317CD59}"/>
          </ac:picMkLst>
        </pc:picChg>
        <pc:picChg chg="add mod">
          <ac:chgData name="Jiada Li" userId="548712ef-b346-4164-ab4c-98259b40301a" providerId="ADAL" clId="{0F6971D5-85B3-2E45-827F-107697C6545F}" dt="2026-04-15T01:46:14.369" v="655" actId="1076"/>
          <ac:picMkLst>
            <pc:docMk/>
            <pc:sldMk cId="1849858891" sldId="256"/>
            <ac:picMk id="33" creationId="{998A6FCC-3029-E34F-CFAF-0847918D9055}"/>
          </ac:picMkLst>
        </pc:picChg>
        <pc:picChg chg="add mod">
          <ac:chgData name="Jiada Li" userId="548712ef-b346-4164-ab4c-98259b40301a" providerId="ADAL" clId="{0F6971D5-85B3-2E45-827F-107697C6545F}" dt="2026-04-15T02:28:23.521" v="899" actId="1076"/>
          <ac:picMkLst>
            <pc:docMk/>
            <pc:sldMk cId="1849858891" sldId="256"/>
            <ac:picMk id="37" creationId="{22ADC7FF-C402-DA1C-7B29-37EB3B52349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49D221-C01E-541B-EC69-575CB3FF4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6E17EF-E5D8-9400-6606-F5F9F0B748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1214F5-0298-FC5A-6600-389D08C58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D0D27D-9386-C731-B3F8-E8A976E0E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AA778-0946-68C3-C1DD-1F6E015F7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2929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E70ED9-0144-3C21-0A64-7A23699BD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0795A6-D733-E6B9-6B76-D06FF02F6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F2875C-5AA1-3C12-D4D0-17C523CA2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5499E0-DF13-2AFC-3EEF-BEDF249A9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03D4C4-3602-268B-DEAD-110A90213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1695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FC4C7-3D6F-CB1F-DC5B-E3628EAC1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0AE0D3-E1F9-94DE-DF04-502C48735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9E8E80-F331-DB19-FC95-287897397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C2D665-55AF-88C0-D78F-A6427F99D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261B6E-29B0-A9B7-D527-8B4D23584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6559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A85B22-D86B-1F66-BE33-845CE5F43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2F559C-6E3E-3480-1D12-24CAE65DEB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D33CD2A-E122-9383-1C21-2AD19E9157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84E2D-F9E6-9602-0900-F77CC3300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D8AC75-0067-BA91-798A-96B19398D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BDEF0E-EF78-1259-2E05-B0338385E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75953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B4B8E3-B552-BE64-EE24-47293F76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6489CD-1D37-3153-DE13-E359871EE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A4ED08-D401-AD62-889F-A302D7608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74CECE6-9AA2-1630-7FA0-65C9693533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2596A51-ED81-F217-B674-FD7E6FB01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D76251-621E-346A-A97E-35AB6232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1BD6D2A-FFFA-3E0E-A208-F132E88F3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0129A03-6B3F-0D57-AA97-9A0EB0D1E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54724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341036-37DB-7531-A551-C2E2675C8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E29BDBC-01EF-B2D3-2AE9-666A56ED8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5CF1503-8212-D0DC-C278-6E4E7FE3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45528BD-4ECB-40F3-2143-DBEAF965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01911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7C096F1-83D5-7481-DB00-611C6D0EF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D9AB1AA-D7F9-8B51-359C-5E7B2C646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26FCF1F-B1C1-72D6-D119-793CDCC91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4045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24EC17-1474-4151-CD43-4CF372122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6CE683-13B2-5543-E709-12167878D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E753ED-9908-C991-55B6-BA74C41E8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AC0CD0-1181-7312-9EE3-1C6E9A953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1D950A-1818-7E27-695F-3794EC354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136D78-1D59-8B33-0E89-E87A252AA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4291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0C5005-78AE-4E0B-70B0-4397088D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48C5A61-1B94-8252-4BB2-AD0064474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7CB604A-FFEF-108D-F30E-8E8D0F6B9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87473-3022-5A8C-D4D2-571BBB7CB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510F5-3113-EF7D-95A4-C372D9040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28564E-DD66-CBCB-40A2-16780B13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5211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BAA3DA-1BCE-D3E3-1547-8661AD0B0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F6AEFFE-6D0F-AACB-E639-2FE4A1AF4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BA1609-9228-44EF-E29E-E351096C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3032D5-D1F7-44CC-9BA1-E724FB0CC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3A8FAA-FBC5-FF6B-43B2-484F93B91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641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DBFAE82-AB5D-13D7-DF76-9C88C1F842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602CCB-0E59-F939-76A7-CBAB87548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F4163D3-0491-34D8-702E-37712AE3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1A0AE4-A75B-D14F-0184-C437A7558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D54913-90B7-C016-1B45-7361BB98E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2831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323FFB1-E362-3F58-7720-D111A15B3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8C803C-9CE6-F884-F315-93986EBCB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1260AF-0479-C518-3AB9-EE4AAC1C5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3CE88B-B02B-184C-9CAE-9FCDA7167E7A}" type="datetimeFigureOut">
              <a:rPr kumimoji="1" lang="zh-CN" altLang="en-US" smtClean="0"/>
              <a:t>2026/4/15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1DBC48-55BA-53B1-9197-A2DE720F42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A75880-DFFB-C512-5451-C0F7FD095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8780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hyperlink" Target="https://www.hec.usace.army.mil/confluence/nsi/technicalreferences/latest/technical-documentation" TargetMode="External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1C01BB-66EA-8EC7-F333-3DBCF62FB3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8571" y="26308"/>
            <a:ext cx="4954858" cy="706437"/>
          </a:xfrm>
        </p:spPr>
        <p:txBody>
          <a:bodyPr>
            <a:normAutofit/>
          </a:bodyPr>
          <a:lstStyle/>
          <a:p>
            <a:r>
              <a:rPr lang="en-US" altLang="zh-CN" sz="1400" b="1" kern="1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Predicting Building - Level Flood Risk by Analysis Comparison of Multi-Layer Perceptron and Bayesian Logistic Regression</a:t>
            </a:r>
            <a:endParaRPr kumimoji="1" lang="zh-CN" altLang="en-US" sz="1400" dirty="0"/>
          </a:p>
        </p:txBody>
      </p:sp>
      <p:pic>
        <p:nvPicPr>
          <p:cNvPr id="6" name="图片 5" descr="图片包含 徽标&#10;&#10;描述已自动生成">
            <a:extLst>
              <a:ext uri="{FF2B5EF4-FFF2-40B4-BE49-F238E27FC236}">
                <a16:creationId xmlns:a16="http://schemas.microsoft.com/office/drawing/2014/main" id="{23D6C803-B8AB-0742-A8C5-3E7860EE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551" y="0"/>
            <a:ext cx="1978412" cy="73274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72EC5B1-C59B-E3BC-C34E-B8CE92782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6" y="992461"/>
            <a:ext cx="12088028" cy="2444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2C45D58-8CFE-78D3-4B53-C071C2EAD4EA}"/>
              </a:ext>
            </a:extLst>
          </p:cNvPr>
          <p:cNvSpPr txBox="1"/>
          <p:nvPr/>
        </p:nvSpPr>
        <p:spPr>
          <a:xfrm>
            <a:off x="3648307" y="746240"/>
            <a:ext cx="489538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000" dirty="0"/>
              <a:t>DS4420 Project by: Lang Shao, </a:t>
            </a:r>
            <a:r>
              <a:rPr kumimoji="1" lang="en-US" altLang="zh-CN" sz="1000" dirty="0" err="1"/>
              <a:t>Jiada</a:t>
            </a:r>
            <a:r>
              <a:rPr kumimoji="1" lang="en-US" altLang="zh-CN" sz="1000" dirty="0"/>
              <a:t> Li</a:t>
            </a:r>
            <a:endParaRPr kumimoji="1" lang="zh-CN" altLang="en-US" sz="10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AD4B41E-5B92-21CC-5E2C-BBFBAAA38482}"/>
              </a:ext>
            </a:extLst>
          </p:cNvPr>
          <p:cNvSpPr txBox="1"/>
          <p:nvPr/>
        </p:nvSpPr>
        <p:spPr>
          <a:xfrm>
            <a:off x="293525" y="1235484"/>
            <a:ext cx="2798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Introduction &amp; Problem </a:t>
            </a:r>
            <a:endParaRPr kumimoji="1" lang="zh-CN" altLang="en-US" sz="1200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E89F91-FEA9-296C-E324-81D32D5F1AC4}"/>
              </a:ext>
            </a:extLst>
          </p:cNvPr>
          <p:cNvSpPr txBox="1"/>
          <p:nvPr/>
        </p:nvSpPr>
        <p:spPr>
          <a:xfrm>
            <a:off x="301083" y="1304861"/>
            <a:ext cx="3317488" cy="1920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altLang="zh-CN" sz="800" dirty="0">
              <a:effectLst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The Problem:</a:t>
            </a:r>
            <a:r>
              <a:rPr lang="en-US" altLang="zh-CN" sz="800" dirty="0">
                <a:effectLst/>
              </a:rPr>
              <a:t> Current FEMA Flood Insurance Rate Maps (FIRMs) rely on macro-level topographic data, largely ignoring specific physical characteristics of individual structures.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The Consequence:</a:t>
            </a:r>
            <a:r>
              <a:rPr lang="en-US" altLang="zh-CN" sz="800" dirty="0">
                <a:effectLst/>
              </a:rPr>
              <a:t> Two houses in the exact same flood zone can </a:t>
            </a:r>
            <a:r>
              <a:rPr lang="en-US" altLang="zh-CN" sz="800" dirty="0"/>
              <a:t>have very different actual risk levels</a:t>
            </a:r>
            <a:r>
              <a:rPr lang="en-US" altLang="zh-CN" sz="800" dirty="0">
                <a:effectLst/>
              </a:rPr>
              <a:t> depending on micro-level factors (</a:t>
            </a:r>
            <a:r>
              <a:rPr lang="en-US" altLang="zh-CN" sz="800" dirty="0"/>
              <a:t>like</a:t>
            </a:r>
            <a:r>
              <a:rPr lang="en-US" altLang="zh-CN" sz="800" dirty="0">
                <a:effectLst/>
              </a:rPr>
              <a:t> foundation height).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Our Objective:</a:t>
            </a:r>
            <a:r>
              <a:rPr lang="en-US" altLang="zh-CN" sz="800" dirty="0">
                <a:effectLst/>
              </a:rPr>
              <a:t> Leverage National Structure Inventory (NSI) data to model flood risk at the individual building level</a:t>
            </a:r>
            <a:r>
              <a:rPr lang="en-US" altLang="zh-CN" sz="800" dirty="0"/>
              <a:t>, moving from zone-level mapping to building-level prediction</a:t>
            </a:r>
            <a:endParaRPr lang="en-US" altLang="zh-CN" sz="800" dirty="0">
              <a:effectLst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120676D-2631-2C02-E7DD-639B1DC09EA2}"/>
              </a:ext>
            </a:extLst>
          </p:cNvPr>
          <p:cNvSpPr txBox="1"/>
          <p:nvPr/>
        </p:nvSpPr>
        <p:spPr>
          <a:xfrm>
            <a:off x="293525" y="3191891"/>
            <a:ext cx="12432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/>
              <a:t>Data Overview</a:t>
            </a:r>
            <a:endParaRPr lang="zh-CN" altLang="en-US" sz="12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3326DDC-C2B8-83B4-9A73-31CCDEE5430F}"/>
              </a:ext>
            </a:extLst>
          </p:cNvPr>
          <p:cNvSpPr txBox="1"/>
          <p:nvPr/>
        </p:nvSpPr>
        <p:spPr>
          <a:xfrm>
            <a:off x="293525" y="3429000"/>
            <a:ext cx="3503865" cy="2081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800" b="1" dirty="0"/>
              <a:t>Dataset:</a:t>
            </a:r>
            <a:r>
              <a:rPr lang="en-US" altLang="zh-CN" sz="800" dirty="0"/>
              <a:t> National Structure Inventory (NSI).</a:t>
            </a:r>
          </a:p>
          <a:p>
            <a:pPr>
              <a:lnSpc>
                <a:spcPct val="150000"/>
              </a:lnSpc>
            </a:pPr>
            <a:r>
              <a:rPr lang="en-US" altLang="zh-CN" sz="800" dirty="0"/>
              <a:t>FROM</a:t>
            </a:r>
            <a:r>
              <a:rPr lang="zh-CN" altLang="en-US" sz="800" dirty="0"/>
              <a:t> </a:t>
            </a:r>
            <a:r>
              <a:rPr lang="en-US" altLang="zh-CN" sz="800" dirty="0"/>
              <a:t>GPKG TO CSV, extract the 153K rows of buildings with FIRM info</a:t>
            </a:r>
          </a:p>
          <a:p>
            <a:pPr>
              <a:lnSpc>
                <a:spcPct val="150000"/>
              </a:lnSpc>
            </a:pPr>
            <a:r>
              <a:rPr lang="en-US" altLang="zh-CN" sz="800" b="1" dirty="0"/>
              <a:t>Target Variable:</a:t>
            </a:r>
            <a:r>
              <a:rPr lang="en-US" altLang="zh-CN" sz="800" dirty="0"/>
              <a:t> FEMA FIRM Zones.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/>
              <a:t>High-Risk (1):</a:t>
            </a:r>
            <a:r>
              <a:rPr lang="en-US" altLang="zh-CN" sz="800" dirty="0"/>
              <a:t> VE, AE, A, AO, AH.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/>
              <a:t>Low-Risk (0):</a:t>
            </a:r>
            <a:r>
              <a:rPr lang="en-US" altLang="zh-CN" sz="800" dirty="0"/>
              <a:t> Area X.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/>
              <a:t>Key Features:</a:t>
            </a:r>
            <a:r>
              <a:rPr lang="en-US" altLang="zh-CN" sz="800" dirty="0"/>
              <a:t> Ground elevation, foundation height, structural value, year built, square footage, number of stories, building type, and foundation type.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900" b="1" dirty="0"/>
              <a:t>Download and documentation: </a:t>
            </a:r>
            <a:r>
              <a:rPr lang="en-US" altLang="zh-CN" sz="700" dirty="0">
                <a:hlinkClick r:id="rId4"/>
              </a:rPr>
              <a:t>https://www.hec.usace.army.mil/confluence/nsi/technicalreferences/latest/technical-documentation</a:t>
            </a:r>
            <a:endParaRPr lang="en-US" altLang="zh-CN" sz="7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sz="8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3E8D7D8-C28F-278A-64AA-21B736E523A6}"/>
              </a:ext>
            </a:extLst>
          </p:cNvPr>
          <p:cNvSpPr txBox="1"/>
          <p:nvPr/>
        </p:nvSpPr>
        <p:spPr>
          <a:xfrm>
            <a:off x="22249" y="682911"/>
            <a:ext cx="14008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000" dirty="0"/>
              <a:t>🌊</a:t>
            </a:r>
            <a:r>
              <a:rPr lang="zh-CN" altLang="en-US" sz="3000" dirty="0"/>
              <a:t> </a:t>
            </a:r>
            <a:r>
              <a:rPr lang="en-US" altLang="zh-CN" sz="3000" dirty="0"/>
              <a:t>☠️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8ECACF9-36C1-9586-0BE9-3B9626DF4018}"/>
              </a:ext>
            </a:extLst>
          </p:cNvPr>
          <p:cNvSpPr txBox="1"/>
          <p:nvPr/>
        </p:nvSpPr>
        <p:spPr>
          <a:xfrm>
            <a:off x="3825774" y="1248979"/>
            <a:ext cx="1788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/>
              <a:t>Methodology</a:t>
            </a:r>
            <a:endParaRPr lang="zh-CN" altLang="en-US" sz="1200" b="1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C499FB7-B94D-8C9F-9A81-86398ACB23C6}"/>
              </a:ext>
            </a:extLst>
          </p:cNvPr>
          <p:cNvSpPr txBox="1"/>
          <p:nvPr/>
        </p:nvSpPr>
        <p:spPr>
          <a:xfrm>
            <a:off x="3825774" y="1545394"/>
            <a:ext cx="4104269" cy="1365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800" b="1" dirty="0">
                <a:effectLst/>
              </a:rPr>
              <a:t>1. Custom MLP (By Lang)</a:t>
            </a:r>
            <a:endParaRPr lang="zh-CN" altLang="en-US" sz="800" dirty="0">
              <a:effectLst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Implementation:</a:t>
            </a:r>
            <a:r>
              <a:rPr lang="en-US" altLang="zh-CN" sz="800" dirty="0">
                <a:effectLst/>
              </a:rPr>
              <a:t> </a:t>
            </a:r>
            <a:r>
              <a:rPr lang="en-US" altLang="zh-CN" sz="800" dirty="0"/>
              <a:t>It was b</a:t>
            </a:r>
            <a:r>
              <a:rPr lang="en-US" altLang="zh-CN" sz="800" dirty="0">
                <a:effectLst/>
              </a:rPr>
              <a:t>uilt manually by using Python and NumPy matrix operations </a:t>
            </a:r>
            <a:r>
              <a:rPr lang="en-US" altLang="zh-CN" sz="800" b="1" dirty="0">
                <a:effectLst/>
              </a:rPr>
              <a:t>Architecture:</a:t>
            </a:r>
            <a:r>
              <a:rPr lang="en-US" altLang="zh-CN" sz="800" dirty="0">
                <a:effectLst/>
              </a:rPr>
              <a:t> * Input Layer: d dimensional feature space.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>
                <a:effectLst/>
              </a:rPr>
              <a:t>Hidden Layer: 16 nodes with </a:t>
            </a:r>
            <a:r>
              <a:rPr lang="en-US" altLang="zh-CN" sz="800" b="1" dirty="0" err="1">
                <a:effectLst/>
              </a:rPr>
              <a:t>ReLU</a:t>
            </a:r>
            <a:r>
              <a:rPr lang="en-US" altLang="zh-CN" sz="800" dirty="0">
                <a:effectLst/>
              </a:rPr>
              <a:t> activation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>
                <a:effectLst/>
              </a:rPr>
              <a:t>Output Layer: 1 node with </a:t>
            </a:r>
            <a:r>
              <a:rPr lang="en-US" altLang="zh-CN" sz="800" b="1" dirty="0">
                <a:effectLst/>
              </a:rPr>
              <a:t>Sigmoid</a:t>
            </a:r>
            <a:r>
              <a:rPr lang="en-US" altLang="zh-CN" sz="800" dirty="0">
                <a:effectLst/>
              </a:rPr>
              <a:t> activation for probability mapping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Optimization:</a:t>
            </a:r>
            <a:r>
              <a:rPr lang="en-US" altLang="zh-CN" sz="800" dirty="0">
                <a:effectLst/>
              </a:rPr>
              <a:t> Full-batch Gradient Descent minimizing Binary Cross-Entropy (BCE) loss (eta=0.05, 2000 epochs) </a:t>
            </a:r>
            <a:r>
              <a:rPr lang="en-US" altLang="zh-CN" sz="800" dirty="0"/>
              <a:t>:</a:t>
            </a:r>
            <a:endParaRPr lang="en-US" altLang="zh-CN" sz="800" dirty="0">
              <a:effectLst/>
            </a:endParaRPr>
          </a:p>
        </p:txBody>
      </p:sp>
      <p:pic>
        <p:nvPicPr>
          <p:cNvPr id="22" name="图片 21" descr="图片包含 文本&#10;&#10;描述已自动生成">
            <a:extLst>
              <a:ext uri="{FF2B5EF4-FFF2-40B4-BE49-F238E27FC236}">
                <a16:creationId xmlns:a16="http://schemas.microsoft.com/office/drawing/2014/main" id="{6FF8055B-8071-BB7B-8C34-B7E87569EC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9830" y="1968915"/>
            <a:ext cx="940797" cy="364857"/>
          </a:xfrm>
          <a:prstGeom prst="rect">
            <a:avLst/>
          </a:prstGeom>
        </p:spPr>
      </p:pic>
      <p:pic>
        <p:nvPicPr>
          <p:cNvPr id="23" name="图片 22" descr="图片包含 徽标&#10;&#10;描述已自动生成">
            <a:extLst>
              <a:ext uri="{FF2B5EF4-FFF2-40B4-BE49-F238E27FC236}">
                <a16:creationId xmlns:a16="http://schemas.microsoft.com/office/drawing/2014/main" id="{068FE5D0-4ECF-0EF5-95B4-485F8A84D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619" y="2664087"/>
            <a:ext cx="1640650" cy="339784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16D872A-CB86-577D-D260-E4710CC4B2CE}"/>
              </a:ext>
            </a:extLst>
          </p:cNvPr>
          <p:cNvSpPr txBox="1"/>
          <p:nvPr/>
        </p:nvSpPr>
        <p:spPr>
          <a:xfrm>
            <a:off x="3825774" y="2940526"/>
            <a:ext cx="615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800" b="1" dirty="0"/>
              <a:t>2. Bayesian Logistic Regression(By </a:t>
            </a:r>
            <a:r>
              <a:rPr lang="en-US" altLang="zh-CN" sz="800" b="1" dirty="0" err="1"/>
              <a:t>Jiada</a:t>
            </a:r>
            <a:r>
              <a:rPr lang="en-US" altLang="zh-CN" sz="800" b="1" dirty="0"/>
              <a:t>)</a:t>
            </a:r>
            <a:endParaRPr lang="zh-CN" altLang="en-US" sz="800" b="1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DCFEE4C-96F0-C0B6-D22E-EFC7F6648D42}"/>
              </a:ext>
            </a:extLst>
          </p:cNvPr>
          <p:cNvSpPr txBox="1"/>
          <p:nvPr/>
        </p:nvSpPr>
        <p:spPr>
          <a:xfrm>
            <a:off x="3738324" y="4466141"/>
            <a:ext cx="2083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/>
              <a:t>Results &amp; Interpretation</a:t>
            </a:r>
            <a:endParaRPr lang="zh-CN" altLang="en-US" sz="1200" b="1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1A8ED24-FC03-D42D-4DA4-5606BA3E41B4}"/>
              </a:ext>
            </a:extLst>
          </p:cNvPr>
          <p:cNvSpPr txBox="1"/>
          <p:nvPr/>
        </p:nvSpPr>
        <p:spPr>
          <a:xfrm>
            <a:off x="3797390" y="4675678"/>
            <a:ext cx="3783237" cy="1920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800" b="1" dirty="0"/>
              <a:t>1. MLP Results</a:t>
            </a:r>
            <a:endParaRPr lang="en-US" altLang="zh-CN" sz="8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/>
              <a:t>Predictive Metrics:</a:t>
            </a:r>
            <a:r>
              <a:rPr lang="en-US" altLang="zh-CN" sz="800" dirty="0"/>
              <a:t> * Accuracy: </a:t>
            </a:r>
            <a:r>
              <a:rPr lang="en-US" altLang="zh-CN" sz="800" b="1" dirty="0"/>
              <a:t>93.97%</a:t>
            </a:r>
            <a:r>
              <a:rPr lang="en-US" altLang="zh-CN" sz="8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Precision: 0.9243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Recall: </a:t>
            </a:r>
            <a:r>
              <a:rPr lang="en-US" altLang="zh-CN" sz="800" b="1" dirty="0"/>
              <a:t>0.9440</a:t>
            </a:r>
            <a:r>
              <a:rPr lang="en-US" altLang="zh-CN" sz="8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F1-Score: 0.9341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/>
              <a:t>Key Takeaway:</a:t>
            </a:r>
            <a:r>
              <a:rPr lang="en-US" altLang="zh-CN" sz="800" dirty="0"/>
              <a:t> </a:t>
            </a:r>
            <a:r>
              <a:rPr lang="en-US" sz="800" dirty="0"/>
              <a:t>The MLP outperforms the Bayesian Logistic Regression across all metrics, achieving higher accuracy (93.97% vs 92.52%), recall (0.9440 vs 0.7675), and F1-score (0.9341 vs 0.8238). </a:t>
            </a:r>
            <a:r>
              <a:rPr lang="en-US" altLang="zh-CN" sz="800" dirty="0"/>
              <a:t>The exceptionally high Recall indicates a very low rate of False Negatives. This ensures vulnerable structures are not mistakenly classified as safe, which is paramount for municipal planning. </a:t>
            </a:r>
          </a:p>
        </p:txBody>
      </p:sp>
      <p:pic>
        <p:nvPicPr>
          <p:cNvPr id="30" name="图片 29" descr="图表, 瀑布图&#10;&#10;描述已自动生成">
            <a:extLst>
              <a:ext uri="{FF2B5EF4-FFF2-40B4-BE49-F238E27FC236}">
                <a16:creationId xmlns:a16="http://schemas.microsoft.com/office/drawing/2014/main" id="{0FA33D50-9A06-1B8C-206F-9E672317CD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1643" y="1386875"/>
            <a:ext cx="3474062" cy="1365951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A5E72279-EA8F-7D30-A34C-F03BC040B850}"/>
              </a:ext>
            </a:extLst>
          </p:cNvPr>
          <p:cNvSpPr txBox="1"/>
          <p:nvPr/>
        </p:nvSpPr>
        <p:spPr>
          <a:xfrm>
            <a:off x="5801442" y="4737531"/>
            <a:ext cx="201235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800" b="1" dirty="0"/>
              <a:t>2. Bayesian Logistic Regression Results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/>
              <a:t>Predictive Metrics:</a:t>
            </a:r>
            <a:r>
              <a:rPr lang="en-US" altLang="zh-CN" sz="800" dirty="0"/>
              <a:t> * Accuracy: 92.52%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Precision: 0.8890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Recall: 0.7675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F1-Score: 0.8238</a:t>
            </a:r>
          </a:p>
          <a:p>
            <a:endParaRPr lang="zh-CN" altLang="en-US" sz="800" b="1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9BCEA52-DE73-D2C1-ED32-D1E14D3F88E2}"/>
              </a:ext>
            </a:extLst>
          </p:cNvPr>
          <p:cNvSpPr txBox="1"/>
          <p:nvPr/>
        </p:nvSpPr>
        <p:spPr>
          <a:xfrm>
            <a:off x="8101643" y="4282017"/>
            <a:ext cx="45526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/>
              <a:t>Conclusions &amp; Future Work</a:t>
            </a:r>
            <a:endParaRPr lang="zh-CN" altLang="en-US" sz="1200" b="1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919C17F-7A10-8D6F-3E05-E187A359625D}"/>
              </a:ext>
            </a:extLst>
          </p:cNvPr>
          <p:cNvSpPr txBox="1"/>
          <p:nvPr/>
        </p:nvSpPr>
        <p:spPr>
          <a:xfrm>
            <a:off x="8101643" y="4539274"/>
            <a:ext cx="3904248" cy="21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800" b="1" dirty="0">
                <a:effectLst/>
              </a:rPr>
              <a:t>Model Trade-offs:</a:t>
            </a:r>
            <a:r>
              <a:rPr lang="en-US" altLang="zh-CN" sz="800" dirty="0">
                <a:effectLst/>
              </a:rPr>
              <a:t> The MLP </a:t>
            </a:r>
            <a:r>
              <a:rPr lang="en-US" altLang="zh-CN" sz="800" dirty="0"/>
              <a:t>did better at capturing non-linear patterns, but it's a black-box… unlike the BLR which gives interpretable coefficients</a:t>
            </a:r>
            <a:r>
              <a:rPr lang="en-US" altLang="zh-CN" sz="800" dirty="0">
                <a:effectLst/>
              </a:rPr>
              <a:t>. </a:t>
            </a:r>
            <a:r>
              <a:rPr lang="en-US" altLang="zh-CN" sz="800" dirty="0"/>
              <a:t>The BLR trades accuracy for interpretability. Its coefficients show foundation type and ground elevation drive flood risk the most.</a:t>
            </a:r>
          </a:p>
          <a:p>
            <a:pPr>
              <a:lnSpc>
                <a:spcPct val="150000"/>
              </a:lnSpc>
            </a:pPr>
            <a:endParaRPr lang="en-US" altLang="zh-CN" sz="800" b="1" dirty="0">
              <a:effectLst/>
            </a:endParaRPr>
          </a:p>
          <a:p>
            <a:pPr>
              <a:lnSpc>
                <a:spcPct val="150000"/>
              </a:lnSpc>
            </a:pPr>
            <a:r>
              <a:rPr lang="en-US" altLang="zh-CN" sz="800" b="1" dirty="0">
                <a:effectLst/>
              </a:rPr>
              <a:t>Future Directions:</a:t>
            </a:r>
            <a:r>
              <a:rPr lang="en-US" altLang="zh-CN" sz="800" dirty="0">
                <a:effectLst/>
              </a:rPr>
              <a:t> * Expand the dataset to include diverse geographical regions.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>
                <a:effectLst/>
              </a:rPr>
              <a:t>Incorporate a post-hoc interpretability framework, such as </a:t>
            </a:r>
            <a:r>
              <a:rPr lang="en-US" altLang="zh-CN" sz="800" b="1" dirty="0">
                <a:effectLst/>
              </a:rPr>
              <a:t>SHAP values</a:t>
            </a:r>
            <a:r>
              <a:rPr lang="en-US" altLang="zh-CN" sz="800" dirty="0">
                <a:effectLst/>
              </a:rPr>
              <a:t>, to understand the marginal contribution of individual building attributes (e.g., ground elevation) to the MLP's predictions. The BLR model has higher interpretability of the features and uncertainty. The combination of a neural network and a Bayesian model (BNN) could improve the predictability. 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C9559D7-5281-2428-7711-D533D437D889}"/>
              </a:ext>
            </a:extLst>
          </p:cNvPr>
          <p:cNvSpPr txBox="1"/>
          <p:nvPr/>
        </p:nvSpPr>
        <p:spPr>
          <a:xfrm>
            <a:off x="8104661" y="1142883"/>
            <a:ext cx="7196202" cy="258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800" b="1" dirty="0"/>
              <a:t>Figures of MLP Results</a:t>
            </a:r>
            <a:endParaRPr lang="en-US" altLang="zh-CN" sz="8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D18A631-6558-539C-2A8A-22CA6F4955CD}"/>
              </a:ext>
            </a:extLst>
          </p:cNvPr>
          <p:cNvSpPr txBox="1"/>
          <p:nvPr/>
        </p:nvSpPr>
        <p:spPr>
          <a:xfrm>
            <a:off x="293525" y="5309571"/>
            <a:ext cx="12432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/>
              <a:t>References</a:t>
            </a:r>
            <a:endParaRPr lang="zh-CN" altLang="en-US" sz="1200" b="1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9075793-09F4-4097-6EA4-2856CA1F9C9D}"/>
              </a:ext>
            </a:extLst>
          </p:cNvPr>
          <p:cNvSpPr txBox="1"/>
          <p:nvPr/>
        </p:nvSpPr>
        <p:spPr>
          <a:xfrm>
            <a:off x="301083" y="5494201"/>
            <a:ext cx="2798956" cy="1368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700" dirty="0" err="1"/>
              <a:t>Demissie</a:t>
            </a:r>
            <a:r>
              <a:rPr lang="en-US" altLang="zh-CN" sz="700" dirty="0"/>
              <a:t>, Z., et al. (2024). </a:t>
            </a:r>
            <a:r>
              <a:rPr lang="en-US" altLang="zh-CN" sz="700" i="1" dirty="0"/>
              <a:t>Applied Computing and Geosciences, 23</a:t>
            </a:r>
            <a:r>
              <a:rPr lang="en-US" altLang="zh-CN" sz="700" dirty="0"/>
              <a:t>, 100183.</a:t>
            </a:r>
          </a:p>
          <a:p>
            <a:pPr>
              <a:lnSpc>
                <a:spcPct val="150000"/>
              </a:lnSpc>
            </a:pPr>
            <a:r>
              <a:rPr lang="en-US" altLang="zh-CN" sz="700" dirty="0"/>
              <a:t>Chen, Y., et al. (2023). </a:t>
            </a:r>
            <a:r>
              <a:rPr lang="en-US" altLang="zh-CN" sz="700" i="1" dirty="0"/>
              <a:t>Frontiers in Earth Science, 11</a:t>
            </a:r>
            <a:r>
              <a:rPr lang="en-US" altLang="zh-CN" sz="700" dirty="0"/>
              <a:t>, 1117004.</a:t>
            </a:r>
          </a:p>
          <a:p>
            <a:pPr>
              <a:lnSpc>
                <a:spcPct val="150000"/>
              </a:lnSpc>
            </a:pPr>
            <a:r>
              <a:rPr lang="en-US" altLang="zh-CN" sz="700" dirty="0" err="1"/>
              <a:t>Ouma</a:t>
            </a:r>
            <a:r>
              <a:rPr lang="en-US" altLang="zh-CN" sz="700" dirty="0"/>
              <a:t>, Y. O., &amp; Lawrence, O. (2023). </a:t>
            </a:r>
            <a:r>
              <a:rPr lang="en-US" altLang="zh-CN" sz="700" i="1" dirty="0"/>
              <a:t>Int. J. of Intelligent Systems 2023</a:t>
            </a:r>
            <a:r>
              <a:rPr lang="en-US" altLang="zh-CN" sz="700" dirty="0"/>
              <a:t>, 5672401.</a:t>
            </a:r>
          </a:p>
          <a:p>
            <a:pPr>
              <a:lnSpc>
                <a:spcPct val="150000"/>
              </a:lnSpc>
            </a:pPr>
            <a:r>
              <a:rPr lang="en-US" altLang="zh-CN" sz="700" dirty="0"/>
              <a:t>Qin, X., et al. (2025). </a:t>
            </a:r>
            <a:r>
              <a:rPr lang="en-US" altLang="zh-CN" sz="700" i="1" dirty="0" err="1"/>
              <a:t>npj</a:t>
            </a:r>
            <a:r>
              <a:rPr lang="en-US" altLang="zh-CN" sz="700" i="1" dirty="0"/>
              <a:t> Urban Sustainability, 5</a:t>
            </a:r>
            <a:r>
              <a:rPr lang="en-US" altLang="zh-CN" sz="700" dirty="0"/>
              <a:t>, 19.</a:t>
            </a:r>
          </a:p>
          <a:p>
            <a:pPr>
              <a:lnSpc>
                <a:spcPct val="150000"/>
              </a:lnSpc>
            </a:pPr>
            <a:r>
              <a:rPr lang="en-US" altLang="zh-CN" sz="700" dirty="0"/>
              <a:t>U.S. Army Corps of Engineers. </a:t>
            </a:r>
            <a:r>
              <a:rPr lang="en-US" altLang="zh-CN" sz="700" i="1" dirty="0"/>
              <a:t>National Structure Inventory (NSI) Technical Documentation.</a:t>
            </a:r>
            <a:endParaRPr lang="en-US" altLang="zh-CN" sz="7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E260EDA-B575-8EF5-5E2A-26ED48648462}"/>
              </a:ext>
            </a:extLst>
          </p:cNvPr>
          <p:cNvSpPr txBox="1"/>
          <p:nvPr/>
        </p:nvSpPr>
        <p:spPr>
          <a:xfrm>
            <a:off x="1423143" y="671847"/>
            <a:ext cx="14008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000" dirty="0"/>
              <a:t>🌊</a:t>
            </a:r>
            <a:r>
              <a:rPr lang="zh-CN" altLang="en-US" sz="3000" dirty="0"/>
              <a:t> </a:t>
            </a:r>
            <a:r>
              <a:rPr lang="en-US" altLang="zh-CN" sz="3000" dirty="0"/>
              <a:t>☠️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D5F1581-D4F4-FEE8-6E9D-762A29AD1C92}"/>
              </a:ext>
            </a:extLst>
          </p:cNvPr>
          <p:cNvSpPr txBox="1"/>
          <p:nvPr/>
        </p:nvSpPr>
        <p:spPr>
          <a:xfrm>
            <a:off x="2890829" y="681486"/>
            <a:ext cx="14008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000" dirty="0"/>
              <a:t>🌊</a:t>
            </a:r>
            <a:r>
              <a:rPr lang="zh-CN" altLang="en-US" sz="3000" dirty="0"/>
              <a:t> </a:t>
            </a:r>
            <a:r>
              <a:rPr lang="en-US" altLang="zh-CN" sz="3000" dirty="0"/>
              <a:t>☠️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65AD4E5-77B8-1316-BAAA-AF64EA79CA17}"/>
              </a:ext>
            </a:extLst>
          </p:cNvPr>
          <p:cNvSpPr txBox="1"/>
          <p:nvPr/>
        </p:nvSpPr>
        <p:spPr>
          <a:xfrm>
            <a:off x="7771954" y="668350"/>
            <a:ext cx="14008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000" dirty="0"/>
              <a:t>🌊</a:t>
            </a:r>
            <a:r>
              <a:rPr lang="zh-CN" altLang="en-US" sz="3000" dirty="0"/>
              <a:t> </a:t>
            </a:r>
            <a:r>
              <a:rPr lang="en-US" altLang="zh-CN" sz="3000" dirty="0"/>
              <a:t>☠️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24828A1-1A13-E73E-E7B8-5E5493327EB5}"/>
              </a:ext>
            </a:extLst>
          </p:cNvPr>
          <p:cNvSpPr txBox="1"/>
          <p:nvPr/>
        </p:nvSpPr>
        <p:spPr>
          <a:xfrm>
            <a:off x="9135727" y="668350"/>
            <a:ext cx="14008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000" dirty="0"/>
              <a:t>🌊</a:t>
            </a:r>
            <a:r>
              <a:rPr lang="zh-CN" altLang="en-US" sz="3000" dirty="0"/>
              <a:t> </a:t>
            </a:r>
            <a:r>
              <a:rPr lang="en-US" altLang="zh-CN" sz="3000" dirty="0"/>
              <a:t>☠️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243B57C-B631-1FB2-A9D9-33E26EC8F9FF}"/>
              </a:ext>
            </a:extLst>
          </p:cNvPr>
          <p:cNvSpPr txBox="1"/>
          <p:nvPr/>
        </p:nvSpPr>
        <p:spPr>
          <a:xfrm>
            <a:off x="10553820" y="668350"/>
            <a:ext cx="14008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000" dirty="0"/>
              <a:t>🌊</a:t>
            </a:r>
            <a:r>
              <a:rPr lang="zh-CN" altLang="en-US" sz="3000" dirty="0"/>
              <a:t> </a:t>
            </a:r>
            <a:r>
              <a:rPr lang="en-US" altLang="zh-CN" sz="3000" dirty="0"/>
              <a:t>☠️</a:t>
            </a:r>
          </a:p>
        </p:txBody>
      </p:sp>
      <p:sp>
        <p:nvSpPr>
          <p:cNvPr id="16" name="文本框 20">
            <a:extLst>
              <a:ext uri="{FF2B5EF4-FFF2-40B4-BE49-F238E27FC236}">
                <a16:creationId xmlns:a16="http://schemas.microsoft.com/office/drawing/2014/main" id="{D7FD89DA-7DEF-B258-879F-2FBE2226A451}"/>
              </a:ext>
            </a:extLst>
          </p:cNvPr>
          <p:cNvSpPr txBox="1"/>
          <p:nvPr/>
        </p:nvSpPr>
        <p:spPr>
          <a:xfrm>
            <a:off x="3825774" y="3085104"/>
            <a:ext cx="4104269" cy="1550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Implementation:</a:t>
            </a:r>
            <a:r>
              <a:rPr lang="en-US" altLang="zh-CN" sz="800" dirty="0">
                <a:effectLst/>
              </a:rPr>
              <a:t> </a:t>
            </a:r>
            <a:r>
              <a:rPr lang="en-US" altLang="zh-CN" sz="800" dirty="0"/>
              <a:t>b</a:t>
            </a:r>
            <a:r>
              <a:rPr lang="en-US" altLang="zh-CN" sz="800" dirty="0">
                <a:effectLst/>
              </a:rPr>
              <a:t>uilt using R and </a:t>
            </a:r>
            <a:r>
              <a:rPr lang="en-US" altLang="zh-CN" sz="800" dirty="0" err="1">
                <a:effectLst/>
              </a:rPr>
              <a:t>rstanarm</a:t>
            </a:r>
            <a:r>
              <a:rPr lang="en-US" altLang="zh-CN" sz="800" dirty="0">
                <a:effectLst/>
              </a:rPr>
              <a:t> l</a:t>
            </a:r>
            <a:r>
              <a:rPr lang="en-US" altLang="zh-CN" sz="800" dirty="0"/>
              <a:t>ibrary</a:t>
            </a:r>
            <a:r>
              <a:rPr lang="en-US" altLang="zh-CN" sz="800" dirty="0">
                <a:effectLst/>
              </a:rPr>
              <a:t>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Architecture:</a:t>
            </a:r>
            <a:r>
              <a:rPr lang="en-US" altLang="zh-CN" sz="800" dirty="0">
                <a:effectLst/>
              </a:rPr>
              <a:t> * Input: d dimensional feature space.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Prior: Normal distribution with mean=0, std= 2.5 for features. Mean=0, std=10 for intercept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dirty="0"/>
              <a:t>Likelihood: Follow a Bernoulli distribution</a:t>
            </a:r>
            <a:endParaRPr lang="en-US" altLang="zh-CN" sz="800" dirty="0">
              <a:effectLst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800" b="1" dirty="0">
                <a:effectLst/>
              </a:rPr>
              <a:t>Optimization:</a:t>
            </a:r>
            <a:r>
              <a:rPr lang="en-US" altLang="zh-CN" sz="800" dirty="0">
                <a:effectLst/>
              </a:rPr>
              <a:t> Use MCMC sampling to retrieve feature weights with </a:t>
            </a:r>
            <a:r>
              <a:rPr lang="en-US" altLang="zh-CN" sz="800" dirty="0" err="1">
                <a:effectLst/>
              </a:rPr>
              <a:t>iter</a:t>
            </a:r>
            <a:r>
              <a:rPr lang="en-US" altLang="zh-CN" sz="800" dirty="0">
                <a:effectLst/>
              </a:rPr>
              <a:t>=1000, chain=4, warmup=500,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sz="800" dirty="0">
              <a:effectLst/>
            </a:endParaRPr>
          </a:p>
        </p:txBody>
      </p:sp>
      <p:pic>
        <p:nvPicPr>
          <p:cNvPr id="24" name="Picture 2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E97CFCF-B2C6-8824-03CC-389BB6203E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9869" y="3839278"/>
            <a:ext cx="1426770" cy="233086"/>
          </a:xfrm>
          <a:prstGeom prst="rect">
            <a:avLst/>
          </a:prstGeom>
        </p:spPr>
      </p:pic>
      <p:pic>
        <p:nvPicPr>
          <p:cNvPr id="28" name="Picture 2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A873F7BD-ABCC-E843-FF65-E76EE1BD8D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7946" y="3645097"/>
            <a:ext cx="946415" cy="215444"/>
          </a:xfrm>
          <a:prstGeom prst="rect">
            <a:avLst/>
          </a:prstGeom>
        </p:spPr>
      </p:pic>
      <p:pic>
        <p:nvPicPr>
          <p:cNvPr id="33" name="Picture 32" descr="A graph with blue bars&#10;&#10;Description automatically generated">
            <a:extLst>
              <a:ext uri="{FF2B5EF4-FFF2-40B4-BE49-F238E27FC236}">
                <a16:creationId xmlns:a16="http://schemas.microsoft.com/office/drawing/2014/main" id="{998A6FCC-3029-E34F-CFAF-0847918D9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8192" y="3024825"/>
            <a:ext cx="1715964" cy="1139522"/>
          </a:xfrm>
          <a:prstGeom prst="rect">
            <a:avLst/>
          </a:prstGeom>
        </p:spPr>
      </p:pic>
      <p:pic>
        <p:nvPicPr>
          <p:cNvPr id="37" name="Picture 36" descr="A diagram of a normal distribution&#10;&#10;Description automatically generated">
            <a:extLst>
              <a:ext uri="{FF2B5EF4-FFF2-40B4-BE49-F238E27FC236}">
                <a16:creationId xmlns:a16="http://schemas.microsoft.com/office/drawing/2014/main" id="{22ADC7FF-C402-DA1C-7B29-37EB3B5234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0176" y="2964910"/>
            <a:ext cx="1776287" cy="1219179"/>
          </a:xfrm>
          <a:prstGeom prst="rect">
            <a:avLst/>
          </a:prstGeom>
        </p:spPr>
      </p:pic>
      <p:sp>
        <p:nvSpPr>
          <p:cNvPr id="39" name="文本框 37">
            <a:extLst>
              <a:ext uri="{FF2B5EF4-FFF2-40B4-BE49-F238E27FC236}">
                <a16:creationId xmlns:a16="http://schemas.microsoft.com/office/drawing/2014/main" id="{94DD5608-D4C8-17F3-13A6-31642A5D8A5A}"/>
              </a:ext>
            </a:extLst>
          </p:cNvPr>
          <p:cNvSpPr txBox="1"/>
          <p:nvPr/>
        </p:nvSpPr>
        <p:spPr>
          <a:xfrm>
            <a:off x="8124445" y="2667205"/>
            <a:ext cx="7196202" cy="258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800" b="1" dirty="0"/>
              <a:t>Figures of BLR Results</a:t>
            </a:r>
            <a:endParaRPr lang="en-US" altLang="zh-CN" sz="800" dirty="0"/>
          </a:p>
        </p:txBody>
      </p:sp>
    </p:spTree>
    <p:extLst>
      <p:ext uri="{BB962C8B-B14F-4D97-AF65-F5344CB8AC3E}">
        <p14:creationId xmlns:p14="http://schemas.microsoft.com/office/powerpoint/2010/main" val="1849858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8eec281-aaa3-4dae-ac9b-9a398b9215e7}" enabled="0" method="" siteId="{a8eec281-aaa3-4dae-ac9b-9a398b9215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1716</TotalTime>
  <Words>728</Words>
  <Application>Microsoft Macintosh PowerPoint</Application>
  <PresentationFormat>宽屏</PresentationFormat>
  <Paragraphs>58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Predicting Building - Level Flood Risk by Analysis Comparison of Multi-Layer Perceptron and Bayesian Logistic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Lang Shao</dc:creator>
  <cp:lastModifiedBy>Lang Shao</cp:lastModifiedBy>
  <cp:revision>17</cp:revision>
  <dcterms:created xsi:type="dcterms:W3CDTF">2026-04-14T22:51:29Z</dcterms:created>
  <dcterms:modified xsi:type="dcterms:W3CDTF">2026-04-17T03:58:36Z</dcterms:modified>
</cp:coreProperties>
</file>