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9"/>
  </p:normalViewPr>
  <p:slideViewPr>
    <p:cSldViewPr snapToGrid="0">
      <p:cViewPr>
        <p:scale>
          <a:sx n="123" d="100"/>
          <a:sy n="123" d="100"/>
        </p:scale>
        <p:origin x="1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9D221-C01E-541B-EC69-575CB3FF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6E17EF-E5D8-9400-6606-F5F9F0B74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1214F5-0298-FC5A-6600-389D08C5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D0D27D-9386-C731-B3F8-E8A976E0E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AA778-0946-68C3-C1DD-1F6E015F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292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70ED9-0144-3C21-0A64-7A23699B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0795A6-D733-E6B9-6B76-D06FF02F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F2875C-5AA1-3C12-D4D0-17C523CA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499E0-DF13-2AFC-3EEF-BEDF249A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03D4C4-3602-268B-DEAD-110A90213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6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FC4C7-3D6F-CB1F-DC5B-E3628EAC1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0AE0D3-E1F9-94DE-DF04-502C4873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E8E80-F331-DB19-FC95-28789739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C2D665-55AF-88C0-D78F-A6427F99D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61B6E-29B0-A9B7-D527-8B4D2358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655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85B22-D86B-1F66-BE33-845CE5F4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2F559C-6E3E-3480-1D12-24CAE65DE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3CD2A-E122-9383-1C21-2AD19E915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584E2D-F9E6-9602-0900-F77CC330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D8AC75-0067-BA91-798A-96B19398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BDEF0E-EF78-1259-2E05-B0338385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595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4B8E3-B552-BE64-EE24-47293F76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6489CD-1D37-3153-DE13-E359871EE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4ED08-D401-AD62-889F-A302D7608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4CECE6-9AA2-1630-7FA0-65C969353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596A51-ED81-F217-B674-FD7E6FB01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D76251-621E-346A-A97E-35AB6232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BD6D2A-FFFA-3E0E-A208-F132E88F3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129A03-6B3F-0D57-AA97-9A0EB0D1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472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41036-37DB-7531-A551-C2E2675C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29BDBC-01EF-B2D3-2AE9-666A56ED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CF1503-8212-D0DC-C278-6E4E7FE3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5528BD-4ECB-40F3-2143-DBEAF96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191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C096F1-83D5-7481-DB00-611C6D0EF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9AB1AA-D7F9-8B51-359C-5E7B2C64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6FCF1F-B1C1-72D6-D119-793CDCC9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404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4EC17-1474-4151-CD43-4CF37212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CE683-13B2-5543-E709-12167878D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E753ED-9908-C991-55B6-BA74C41E8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AC0CD0-1181-7312-9EE3-1C6E9A95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1D950A-1818-7E27-695F-3794EC35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36D78-1D59-8B33-0E89-E87A252A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429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C5005-78AE-4E0B-70B0-4397088D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8C5A61-1B94-8252-4BB2-AD0064474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CB604A-FFEF-108D-F30E-8E8D0F6B9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7473-3022-5A8C-D4D2-571BBB7C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A510F5-3113-EF7D-95A4-C372D904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28564E-DD66-CBCB-40A2-16780B13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521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AA3DA-1BCE-D3E3-1547-8661AD0B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6AEFFE-6D0F-AACB-E639-2FE4A1AF4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A1609-9228-44EF-E29E-E351096C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032D5-D1F7-44CC-9BA1-E724FB0C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3A8FAA-FBC5-FF6B-43B2-484F93B9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641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BFAE82-AB5D-13D7-DF76-9C88C1F84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602CCB-0E59-F939-76A7-CBAB87548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4163D3-0491-34D8-702E-37712AE3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A0AE4-A75B-D14F-0184-C437A755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54913-90B7-C016-1B45-7361BB98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283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323FFB1-E362-3F58-7720-D111A15B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8C803C-9CE6-F884-F315-93986EBCB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260AF-0479-C518-3AB9-EE4AAC1C5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CE88B-B02B-184C-9CAE-9FCDA7167E7A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1DBC48-55BA-53B1-9197-A2DE720F4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75880-DFFB-C512-5451-C0F7FD095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22B42-9BCC-5B49-8F9C-B9BC904F82D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878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C01BB-66EA-8EC7-F333-3DBCF62FB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8571" y="26308"/>
            <a:ext cx="4954858" cy="706437"/>
          </a:xfrm>
        </p:spPr>
        <p:txBody>
          <a:bodyPr>
            <a:normAutofit/>
          </a:bodyPr>
          <a:lstStyle/>
          <a:p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Predicting Building - Level Flood Risk by Analysis Comparison of Multi-Layer Perceptron and Bayesian Logistic Regression</a:t>
            </a:r>
            <a:endParaRPr kumimoji="1" lang="zh-CN" altLang="en-US" sz="1400" dirty="0"/>
          </a:p>
        </p:txBody>
      </p:sp>
      <p:pic>
        <p:nvPicPr>
          <p:cNvPr id="6" name="图片 5" descr="图片包含 徽标&#10;&#10;描述已自动生成">
            <a:extLst>
              <a:ext uri="{FF2B5EF4-FFF2-40B4-BE49-F238E27FC236}">
                <a16:creationId xmlns:a16="http://schemas.microsoft.com/office/drawing/2014/main" id="{23D6C803-B8AB-0742-A8C5-3E7860EE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551" y="0"/>
            <a:ext cx="1978412" cy="7327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2EC5B1-C59B-E3BC-C34E-B8CE92782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6" y="992461"/>
            <a:ext cx="12088028" cy="2444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2C45D58-8CFE-78D3-4B53-C071C2EAD4EA}"/>
              </a:ext>
            </a:extLst>
          </p:cNvPr>
          <p:cNvSpPr txBox="1"/>
          <p:nvPr/>
        </p:nvSpPr>
        <p:spPr>
          <a:xfrm>
            <a:off x="3648307" y="746240"/>
            <a:ext cx="4895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dirty="0"/>
              <a:t>DS4420 Project by: Lang Shao, </a:t>
            </a:r>
            <a:r>
              <a:rPr kumimoji="1" lang="en-US" altLang="zh-CN" sz="1000" dirty="0" err="1"/>
              <a:t>Jiada</a:t>
            </a:r>
            <a:r>
              <a:rPr kumimoji="1" lang="en-US" altLang="zh-CN" sz="1000" dirty="0"/>
              <a:t> Li</a:t>
            </a:r>
            <a:endParaRPr kumimoji="1" lang="zh-CN" altLang="en-US" sz="1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D4B41E-5B92-21CC-5E2C-BBFBAAA38482}"/>
              </a:ext>
            </a:extLst>
          </p:cNvPr>
          <p:cNvSpPr txBox="1"/>
          <p:nvPr/>
        </p:nvSpPr>
        <p:spPr>
          <a:xfrm>
            <a:off x="293525" y="1235484"/>
            <a:ext cx="2798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Introduction &amp; Problem </a:t>
            </a:r>
            <a:endParaRPr kumimoji="1" lang="zh-CN" altLang="en-US" sz="12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E89F91-FEA9-296C-E324-81D32D5F1AC4}"/>
              </a:ext>
            </a:extLst>
          </p:cNvPr>
          <p:cNvSpPr txBox="1"/>
          <p:nvPr/>
        </p:nvSpPr>
        <p:spPr>
          <a:xfrm>
            <a:off x="301083" y="1304861"/>
            <a:ext cx="3317488" cy="191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800" dirty="0">
              <a:effectLst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>
                <a:effectLst/>
              </a:rPr>
              <a:t>The Problem:</a:t>
            </a:r>
            <a:r>
              <a:rPr lang="en-US" altLang="zh-CN" sz="800" dirty="0">
                <a:effectLst/>
              </a:rPr>
              <a:t> Current FEMA Flood Insurance Rate Maps (FIRMs) rely on macro-level topographic data, largely ignoring specific physical characteristics of individual structures.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>
                <a:effectLst/>
              </a:rPr>
              <a:t>The Consequence:</a:t>
            </a:r>
            <a:r>
              <a:rPr lang="en-US" altLang="zh-CN" sz="800" dirty="0">
                <a:effectLst/>
              </a:rPr>
              <a:t> Two houses in the exact same flood zone can have drastically different true vulnerabilities depending on micro-level factors (</a:t>
            </a:r>
            <a:r>
              <a:rPr lang="en-US" altLang="zh-CN" sz="800" dirty="0"/>
              <a:t>like</a:t>
            </a:r>
            <a:r>
              <a:rPr lang="en-US" altLang="zh-CN" sz="800" dirty="0">
                <a:effectLst/>
              </a:rPr>
              <a:t> foundation height).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>
                <a:effectLst/>
              </a:rPr>
              <a:t>Our Objective:</a:t>
            </a:r>
            <a:r>
              <a:rPr lang="en-US" altLang="zh-CN" sz="800" dirty="0">
                <a:effectLst/>
              </a:rPr>
              <a:t> Leverage National Structure Inventory (NSI) data to model flood risk at the individual building level, shifting from geospatial area-mapping to structural vulnerability classification.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20676D-2631-2C02-E7DD-639B1DC09EA2}"/>
              </a:ext>
            </a:extLst>
          </p:cNvPr>
          <p:cNvSpPr txBox="1"/>
          <p:nvPr/>
        </p:nvSpPr>
        <p:spPr>
          <a:xfrm>
            <a:off x="301083" y="3330391"/>
            <a:ext cx="12432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Data Overview</a:t>
            </a:r>
            <a:endParaRPr lang="zh-CN" altLang="en-US" sz="12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326DDC-C2B8-83B4-9A73-31CCDEE5430F}"/>
              </a:ext>
            </a:extLst>
          </p:cNvPr>
          <p:cNvSpPr txBox="1"/>
          <p:nvPr/>
        </p:nvSpPr>
        <p:spPr>
          <a:xfrm>
            <a:off x="293525" y="3607390"/>
            <a:ext cx="2259237" cy="173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800" b="1" dirty="0"/>
              <a:t>Dataset:</a:t>
            </a:r>
            <a:r>
              <a:rPr lang="en-US" altLang="zh-CN" sz="800" dirty="0"/>
              <a:t> National Structure Inventory (NSI).</a:t>
            </a:r>
          </a:p>
          <a:p>
            <a:pPr>
              <a:lnSpc>
                <a:spcPct val="150000"/>
              </a:lnSpc>
            </a:pPr>
            <a:r>
              <a:rPr lang="en-US" altLang="zh-CN" sz="800" dirty="0">
                <a:highlight>
                  <a:srgbClr val="FFFF00"/>
                </a:highlight>
              </a:rPr>
              <a:t>FROM</a:t>
            </a:r>
            <a:r>
              <a:rPr lang="zh-CN" altLang="en-US" sz="800" dirty="0">
                <a:highlight>
                  <a:srgbClr val="FFFF00"/>
                </a:highlight>
              </a:rPr>
              <a:t> </a:t>
            </a:r>
            <a:r>
              <a:rPr lang="en-US" altLang="zh-CN" sz="800" dirty="0">
                <a:highlight>
                  <a:srgbClr val="FFFF00"/>
                </a:highlight>
              </a:rPr>
              <a:t>GPKG TO CSV!</a:t>
            </a:r>
          </a:p>
          <a:p>
            <a:pPr>
              <a:lnSpc>
                <a:spcPct val="150000"/>
              </a:lnSpc>
            </a:pPr>
            <a:r>
              <a:rPr lang="en-US" altLang="zh-CN" sz="800" b="1" dirty="0"/>
              <a:t>Target Variable:</a:t>
            </a:r>
            <a:r>
              <a:rPr lang="en-US" altLang="zh-CN" sz="800" dirty="0"/>
              <a:t> FEMA FIRM Zones.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/>
              <a:t>High-Risk (1):</a:t>
            </a:r>
            <a:r>
              <a:rPr lang="en-US" altLang="zh-CN" sz="800" dirty="0"/>
              <a:t> VE, AE, A, AO, AH.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/>
              <a:t>Low-Risk (0):</a:t>
            </a:r>
            <a:r>
              <a:rPr lang="en-US" altLang="zh-CN" sz="800" dirty="0"/>
              <a:t> Area X.</a:t>
            </a:r>
          </a:p>
          <a:p>
            <a:pPr>
              <a:lnSpc>
                <a:spcPct val="150000"/>
              </a:lnSpc>
            </a:pPr>
            <a:r>
              <a:rPr lang="en-US" altLang="zh-CN" sz="800" b="1" dirty="0"/>
              <a:t>Key Features:</a:t>
            </a:r>
            <a:r>
              <a:rPr lang="en-US" altLang="zh-CN" sz="800" dirty="0"/>
              <a:t> Ground elevation (</a:t>
            </a:r>
            <a:r>
              <a:rPr lang="en-US" altLang="zh-CN" sz="800" dirty="0" err="1"/>
              <a:t>ground_elv</a:t>
            </a:r>
            <a:r>
              <a:rPr lang="en-US" altLang="zh-CN" sz="800" dirty="0"/>
              <a:t>), foundation height (</a:t>
            </a:r>
            <a:r>
              <a:rPr lang="en-US" altLang="zh-CN" sz="800" dirty="0" err="1"/>
              <a:t>found_ht</a:t>
            </a:r>
            <a:r>
              <a:rPr lang="en-US" altLang="zh-CN" sz="800" dirty="0"/>
              <a:t>), structural value, year built, square footage, number of stories, building type, and foundation type.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E8D7D8-C28F-278A-64AA-21B736E523A6}"/>
              </a:ext>
            </a:extLst>
          </p:cNvPr>
          <p:cNvSpPr txBox="1"/>
          <p:nvPr/>
        </p:nvSpPr>
        <p:spPr>
          <a:xfrm>
            <a:off x="22249" y="682911"/>
            <a:ext cx="1400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🌊</a:t>
            </a:r>
            <a:r>
              <a:rPr lang="zh-CN" altLang="en-US" sz="3000" dirty="0"/>
              <a:t> </a:t>
            </a:r>
            <a:r>
              <a:rPr lang="en-US" altLang="zh-CN" sz="3000" dirty="0"/>
              <a:t>☠️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ECACF9-36C1-9586-0BE9-3B9626DF4018}"/>
              </a:ext>
            </a:extLst>
          </p:cNvPr>
          <p:cNvSpPr txBox="1"/>
          <p:nvPr/>
        </p:nvSpPr>
        <p:spPr>
          <a:xfrm>
            <a:off x="4003411" y="1235484"/>
            <a:ext cx="1788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Methodology</a:t>
            </a:r>
            <a:endParaRPr lang="zh-CN" altLang="en-US" sz="12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499FB7-B94D-8C9F-9A81-86398ACB23C6}"/>
              </a:ext>
            </a:extLst>
          </p:cNvPr>
          <p:cNvSpPr txBox="1"/>
          <p:nvPr/>
        </p:nvSpPr>
        <p:spPr>
          <a:xfrm>
            <a:off x="4003411" y="1523547"/>
            <a:ext cx="4104269" cy="1365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800" b="1" dirty="0">
                <a:effectLst/>
              </a:rPr>
              <a:t>1. Custom MLP (By Lang)</a:t>
            </a:r>
            <a:endParaRPr lang="zh-CN" altLang="en-US" sz="800" dirty="0">
              <a:effectLst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>
                <a:effectLst/>
              </a:rPr>
              <a:t>Implementation:</a:t>
            </a:r>
            <a:r>
              <a:rPr lang="en-US" altLang="zh-CN" sz="800" dirty="0">
                <a:effectLst/>
              </a:rPr>
              <a:t> </a:t>
            </a:r>
            <a:r>
              <a:rPr lang="en-US" altLang="zh-CN" sz="800" dirty="0"/>
              <a:t>It was b</a:t>
            </a:r>
            <a:r>
              <a:rPr lang="en-US" altLang="zh-CN" sz="800" dirty="0">
                <a:effectLst/>
              </a:rPr>
              <a:t>uilt manually by using Python and NumPy matrix operations </a:t>
            </a:r>
            <a:r>
              <a:rPr lang="en-US" altLang="zh-CN" sz="800" b="1" dirty="0">
                <a:effectLst/>
              </a:rPr>
              <a:t>Architecture:</a:t>
            </a:r>
            <a:r>
              <a:rPr lang="en-US" altLang="zh-CN" sz="800" dirty="0">
                <a:effectLst/>
              </a:rPr>
              <a:t> * Input Layer: d dimensional feature space.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dirty="0">
                <a:effectLst/>
              </a:rPr>
              <a:t>Hidden Layer: 16 nodes with </a:t>
            </a:r>
            <a:r>
              <a:rPr lang="en-US" altLang="zh-CN" sz="800" b="1" dirty="0" err="1">
                <a:effectLst/>
              </a:rPr>
              <a:t>ReLU</a:t>
            </a:r>
            <a:r>
              <a:rPr lang="en-US" altLang="zh-CN" sz="800" dirty="0">
                <a:effectLst/>
              </a:rPr>
              <a:t> activation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dirty="0">
                <a:effectLst/>
              </a:rPr>
              <a:t>Output Layer: 1 node with </a:t>
            </a:r>
            <a:r>
              <a:rPr lang="en-US" altLang="zh-CN" sz="800" b="1" dirty="0">
                <a:effectLst/>
              </a:rPr>
              <a:t>Sigmoid</a:t>
            </a:r>
            <a:r>
              <a:rPr lang="en-US" altLang="zh-CN" sz="800" dirty="0">
                <a:effectLst/>
              </a:rPr>
              <a:t> activation for probability mapping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>
                <a:effectLst/>
              </a:rPr>
              <a:t>Optimization:</a:t>
            </a:r>
            <a:r>
              <a:rPr lang="en-US" altLang="zh-CN" sz="800" dirty="0">
                <a:effectLst/>
              </a:rPr>
              <a:t> Full-batch Gradient Descent minimizing Binary Cross-Entropy (BCE) loss (eta=0.05, 2000 epochs) </a:t>
            </a:r>
            <a:r>
              <a:rPr lang="en-US" altLang="zh-CN" sz="800" dirty="0"/>
              <a:t>:</a:t>
            </a:r>
            <a:endParaRPr lang="en-US" altLang="zh-CN" sz="800" dirty="0">
              <a:effectLst/>
            </a:endParaRPr>
          </a:p>
        </p:txBody>
      </p:sp>
      <p:pic>
        <p:nvPicPr>
          <p:cNvPr id="22" name="图片 21" descr="图片包含 文本&#10;&#10;描述已自动生成">
            <a:extLst>
              <a:ext uri="{FF2B5EF4-FFF2-40B4-BE49-F238E27FC236}">
                <a16:creationId xmlns:a16="http://schemas.microsoft.com/office/drawing/2014/main" id="{6FF8055B-8071-BB7B-8C34-B7E87569E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269" y="1945997"/>
            <a:ext cx="940797" cy="364857"/>
          </a:xfrm>
          <a:prstGeom prst="rect">
            <a:avLst/>
          </a:prstGeom>
        </p:spPr>
      </p:pic>
      <p:pic>
        <p:nvPicPr>
          <p:cNvPr id="23" name="图片 22" descr="图片包含 徽标&#10;&#10;描述已自动生成">
            <a:extLst>
              <a:ext uri="{FF2B5EF4-FFF2-40B4-BE49-F238E27FC236}">
                <a16:creationId xmlns:a16="http://schemas.microsoft.com/office/drawing/2014/main" id="{068FE5D0-4ECF-0EF5-95B4-485F8A84D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711" y="2650040"/>
            <a:ext cx="1640650" cy="339784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16D872A-CB86-577D-D260-E4710CC4B2CE}"/>
              </a:ext>
            </a:extLst>
          </p:cNvPr>
          <p:cNvSpPr txBox="1"/>
          <p:nvPr/>
        </p:nvSpPr>
        <p:spPr>
          <a:xfrm>
            <a:off x="4003411" y="2928991"/>
            <a:ext cx="6157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/>
              <a:t>2. Bayesian Logistic Regression(By </a:t>
            </a:r>
            <a:r>
              <a:rPr lang="en-US" altLang="zh-CN" sz="800" b="1" dirty="0" err="1"/>
              <a:t>Jiada</a:t>
            </a:r>
            <a:r>
              <a:rPr lang="en-US" altLang="zh-CN" sz="800" b="1" dirty="0"/>
              <a:t>)</a:t>
            </a:r>
            <a:endParaRPr lang="zh-CN" altLang="en-US" sz="8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CFEE4C-96F0-C0B6-D22E-EFC7F6648D42}"/>
              </a:ext>
            </a:extLst>
          </p:cNvPr>
          <p:cNvSpPr txBox="1"/>
          <p:nvPr/>
        </p:nvSpPr>
        <p:spPr>
          <a:xfrm>
            <a:off x="3988717" y="4979703"/>
            <a:ext cx="20835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Results &amp; Interpretation</a:t>
            </a:r>
            <a:endParaRPr lang="zh-CN" altLang="en-US" sz="1200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1A8ED24-FC03-D42D-4DA4-5606BA3E41B4}"/>
              </a:ext>
            </a:extLst>
          </p:cNvPr>
          <p:cNvSpPr txBox="1"/>
          <p:nvPr/>
        </p:nvSpPr>
        <p:spPr>
          <a:xfrm>
            <a:off x="3988717" y="5255277"/>
            <a:ext cx="3783237" cy="1550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800" b="1" dirty="0"/>
              <a:t>1. MLP Results</a:t>
            </a:r>
            <a:endParaRPr lang="en-US" altLang="zh-CN" sz="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/>
              <a:t>Predictive Metrics:</a:t>
            </a:r>
            <a:r>
              <a:rPr lang="en-US" altLang="zh-CN" sz="800" dirty="0"/>
              <a:t> * Accuracy: </a:t>
            </a:r>
            <a:r>
              <a:rPr lang="en-US" altLang="zh-CN" sz="800" b="1" dirty="0"/>
              <a:t>93.97%</a:t>
            </a:r>
            <a:r>
              <a:rPr lang="en-US" altLang="zh-CN" sz="8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dirty="0"/>
              <a:t>Precision: 0.9243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dirty="0"/>
              <a:t>Recall: </a:t>
            </a:r>
            <a:r>
              <a:rPr lang="en-US" altLang="zh-CN" sz="800" b="1" dirty="0"/>
              <a:t>0.9440</a:t>
            </a:r>
            <a:r>
              <a:rPr lang="en-US" altLang="zh-CN" sz="800" dirty="0"/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dirty="0"/>
              <a:t>F1-Score: 0.9341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b="1" dirty="0"/>
              <a:t>Key Takeaway:</a:t>
            </a:r>
            <a:r>
              <a:rPr lang="en-US" altLang="zh-CN" sz="800" dirty="0"/>
              <a:t> The exceptionally high Recall indicates a very low rate of False Negatives. This ensures vulnerable structures are not mistakenly classified as safe, which is paramount for municipal planning.</a:t>
            </a:r>
          </a:p>
        </p:txBody>
      </p:sp>
      <p:pic>
        <p:nvPicPr>
          <p:cNvPr id="30" name="图片 29" descr="图表, 瀑布图&#10;&#10;描述已自动生成">
            <a:extLst>
              <a:ext uri="{FF2B5EF4-FFF2-40B4-BE49-F238E27FC236}">
                <a16:creationId xmlns:a16="http://schemas.microsoft.com/office/drawing/2014/main" id="{0FA33D50-9A06-1B8C-206F-9E672317CD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661" y="1673314"/>
            <a:ext cx="3474062" cy="1365951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5E72279-EA8F-7D30-A34C-F03BC040B850}"/>
              </a:ext>
            </a:extLst>
          </p:cNvPr>
          <p:cNvSpPr txBox="1"/>
          <p:nvPr/>
        </p:nvSpPr>
        <p:spPr>
          <a:xfrm>
            <a:off x="8107679" y="3041201"/>
            <a:ext cx="61601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/>
              <a:t>2. Bayesian Logistic Regression Results</a:t>
            </a:r>
            <a:endParaRPr lang="zh-CN" altLang="en-US" sz="8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9BCEA52-DE73-D2C1-ED32-D1E14D3F88E2}"/>
              </a:ext>
            </a:extLst>
          </p:cNvPr>
          <p:cNvSpPr txBox="1"/>
          <p:nvPr/>
        </p:nvSpPr>
        <p:spPr>
          <a:xfrm>
            <a:off x="8104661" y="4515541"/>
            <a:ext cx="45526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Conclusions &amp; Future Work</a:t>
            </a:r>
            <a:endParaRPr lang="zh-CN" altLang="en-US" sz="12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919C17F-7A10-8D6F-3E05-E187A359625D}"/>
              </a:ext>
            </a:extLst>
          </p:cNvPr>
          <p:cNvSpPr txBox="1"/>
          <p:nvPr/>
        </p:nvSpPr>
        <p:spPr>
          <a:xfrm>
            <a:off x="8104661" y="4792540"/>
            <a:ext cx="3904248" cy="173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800" b="1" dirty="0">
                <a:effectLst/>
              </a:rPr>
              <a:t>Model Trade-offs:</a:t>
            </a:r>
            <a:r>
              <a:rPr lang="en-US" altLang="zh-CN" sz="800" dirty="0">
                <a:effectLst/>
              </a:rPr>
              <a:t> The MLP demonstrated superior capability in capturing complex, non-linear structural patterns (high accuracy). However, it suffers from a "black-box" nature compared to the probabilistic, easily interpretable coefficients provided by the Bayesian approach.</a:t>
            </a:r>
          </a:p>
          <a:p>
            <a:pPr>
              <a:lnSpc>
                <a:spcPct val="150000"/>
              </a:lnSpc>
            </a:pPr>
            <a:r>
              <a:rPr lang="en-US" altLang="zh-CN" sz="800" b="1" dirty="0">
                <a:effectLst/>
              </a:rPr>
              <a:t>Future Directions:</a:t>
            </a:r>
            <a:r>
              <a:rPr lang="en-US" altLang="zh-CN" sz="800" dirty="0">
                <a:effectLst/>
              </a:rPr>
              <a:t> * Expand the dataset to include diverse geographical regions.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800" dirty="0">
                <a:effectLst/>
              </a:rPr>
              <a:t>Incorporate a post-hoc interpretability framework, such as </a:t>
            </a:r>
            <a:r>
              <a:rPr lang="en-US" altLang="zh-CN" sz="800" b="1" dirty="0">
                <a:effectLst/>
              </a:rPr>
              <a:t>SHAP values</a:t>
            </a:r>
            <a:r>
              <a:rPr lang="en-US" altLang="zh-CN" sz="800" dirty="0">
                <a:effectLst/>
              </a:rPr>
              <a:t>, to understand the marginal contribution of individual building attributes (e.g., ground elevation) to the MLP's predictions.</a:t>
            </a:r>
          </a:p>
          <a:p>
            <a:pPr>
              <a:lnSpc>
                <a:spcPct val="150000"/>
              </a:lnSpc>
            </a:pPr>
            <a:r>
              <a:rPr lang="en-US" altLang="zh-CN" sz="800" b="1" dirty="0" err="1"/>
              <a:t>Xxxxxxxxxxxxxxx</a:t>
            </a:r>
            <a:r>
              <a:rPr lang="en-US" altLang="zh-CN" sz="800" b="1" dirty="0"/>
              <a:t>: </a:t>
            </a:r>
            <a:endParaRPr lang="en-US" altLang="zh-CN" sz="800" b="1" dirty="0">
              <a:effectLst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C9559D7-5281-2428-7711-D533D437D889}"/>
              </a:ext>
            </a:extLst>
          </p:cNvPr>
          <p:cNvSpPr txBox="1"/>
          <p:nvPr/>
        </p:nvSpPr>
        <p:spPr>
          <a:xfrm>
            <a:off x="8107679" y="1429322"/>
            <a:ext cx="7196202" cy="258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800" b="1" dirty="0"/>
              <a:t>Figures of MLP Results</a:t>
            </a:r>
            <a:endParaRPr lang="en-US" altLang="zh-CN" sz="8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D18A631-6558-539C-2A8A-22CA6F4955CD}"/>
              </a:ext>
            </a:extLst>
          </p:cNvPr>
          <p:cNvSpPr txBox="1"/>
          <p:nvPr/>
        </p:nvSpPr>
        <p:spPr>
          <a:xfrm>
            <a:off x="301083" y="5319717"/>
            <a:ext cx="12432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References</a:t>
            </a:r>
            <a:endParaRPr lang="zh-CN" altLang="en-US" sz="1200" b="1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9075793-09F4-4097-6EA4-2856CA1F9C9D}"/>
              </a:ext>
            </a:extLst>
          </p:cNvPr>
          <p:cNvSpPr txBox="1"/>
          <p:nvPr/>
        </p:nvSpPr>
        <p:spPr>
          <a:xfrm>
            <a:off x="293525" y="5553139"/>
            <a:ext cx="2387708" cy="118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600" dirty="0" err="1"/>
              <a:t>Demissie</a:t>
            </a:r>
            <a:r>
              <a:rPr lang="en-US" altLang="zh-CN" sz="600" dirty="0"/>
              <a:t>, Z., et al. (2024). </a:t>
            </a:r>
            <a:r>
              <a:rPr lang="en-US" altLang="zh-CN" sz="600" i="1" dirty="0"/>
              <a:t>Applied Computing and Geosciences, 23</a:t>
            </a:r>
            <a:r>
              <a:rPr lang="en-US" altLang="zh-CN" sz="600" dirty="0"/>
              <a:t>, 100183.</a:t>
            </a:r>
          </a:p>
          <a:p>
            <a:pPr>
              <a:lnSpc>
                <a:spcPct val="150000"/>
              </a:lnSpc>
            </a:pPr>
            <a:r>
              <a:rPr lang="en-US" altLang="zh-CN" sz="600" dirty="0"/>
              <a:t>Chen, Y., et al. (2023). </a:t>
            </a:r>
            <a:r>
              <a:rPr lang="en-US" altLang="zh-CN" sz="600" i="1" dirty="0"/>
              <a:t>Frontiers in Earth Science, 11</a:t>
            </a:r>
            <a:r>
              <a:rPr lang="en-US" altLang="zh-CN" sz="600" dirty="0"/>
              <a:t>, 1117004.</a:t>
            </a:r>
          </a:p>
          <a:p>
            <a:pPr>
              <a:lnSpc>
                <a:spcPct val="150000"/>
              </a:lnSpc>
            </a:pPr>
            <a:r>
              <a:rPr lang="en-US" altLang="zh-CN" sz="600" dirty="0" err="1"/>
              <a:t>Ouma</a:t>
            </a:r>
            <a:r>
              <a:rPr lang="en-US" altLang="zh-CN" sz="600" dirty="0"/>
              <a:t>, Y. O., &amp; Lawrence, O. (2023). </a:t>
            </a:r>
            <a:r>
              <a:rPr lang="en-US" altLang="zh-CN" sz="600" i="1" dirty="0"/>
              <a:t>Int. J. of Intelligent Systems 2023</a:t>
            </a:r>
            <a:r>
              <a:rPr lang="en-US" altLang="zh-CN" sz="600" dirty="0"/>
              <a:t>, 5672401.</a:t>
            </a:r>
          </a:p>
          <a:p>
            <a:pPr>
              <a:lnSpc>
                <a:spcPct val="150000"/>
              </a:lnSpc>
            </a:pPr>
            <a:r>
              <a:rPr lang="en-US" altLang="zh-CN" sz="600" dirty="0"/>
              <a:t>Qin, X., et al. (2025). </a:t>
            </a:r>
            <a:r>
              <a:rPr lang="en-US" altLang="zh-CN" sz="600" i="1" dirty="0" err="1"/>
              <a:t>npj</a:t>
            </a:r>
            <a:r>
              <a:rPr lang="en-US" altLang="zh-CN" sz="600" i="1" dirty="0"/>
              <a:t> Urban Sustainability, 5</a:t>
            </a:r>
            <a:r>
              <a:rPr lang="en-US" altLang="zh-CN" sz="600" dirty="0"/>
              <a:t>, 19.</a:t>
            </a:r>
          </a:p>
          <a:p>
            <a:pPr>
              <a:lnSpc>
                <a:spcPct val="150000"/>
              </a:lnSpc>
            </a:pPr>
            <a:r>
              <a:rPr lang="en-US" altLang="zh-CN" sz="600" dirty="0"/>
              <a:t>U.S. Army Corps of Engineers. </a:t>
            </a:r>
            <a:r>
              <a:rPr lang="en-US" altLang="zh-CN" sz="600" i="1" dirty="0"/>
              <a:t>National Structure Inventory (NSI) Technical Documentation.</a:t>
            </a:r>
            <a:endParaRPr lang="en-US" altLang="zh-CN" sz="6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E260EDA-B575-8EF5-5E2A-26ED48648462}"/>
              </a:ext>
            </a:extLst>
          </p:cNvPr>
          <p:cNvSpPr txBox="1"/>
          <p:nvPr/>
        </p:nvSpPr>
        <p:spPr>
          <a:xfrm>
            <a:off x="1423143" y="671847"/>
            <a:ext cx="1400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🌊</a:t>
            </a:r>
            <a:r>
              <a:rPr lang="zh-CN" altLang="en-US" sz="3000" dirty="0"/>
              <a:t> </a:t>
            </a:r>
            <a:r>
              <a:rPr lang="en-US" altLang="zh-CN" sz="3000" dirty="0"/>
              <a:t>☠️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D5F1581-D4F4-FEE8-6E9D-762A29AD1C92}"/>
              </a:ext>
            </a:extLst>
          </p:cNvPr>
          <p:cNvSpPr txBox="1"/>
          <p:nvPr/>
        </p:nvSpPr>
        <p:spPr>
          <a:xfrm>
            <a:off x="2890829" y="681486"/>
            <a:ext cx="1400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🌊</a:t>
            </a:r>
            <a:r>
              <a:rPr lang="zh-CN" altLang="en-US" sz="3000" dirty="0"/>
              <a:t> </a:t>
            </a:r>
            <a:r>
              <a:rPr lang="en-US" altLang="zh-CN" sz="3000" dirty="0"/>
              <a:t>☠️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65AD4E5-77B8-1316-BAAA-AF64EA79CA17}"/>
              </a:ext>
            </a:extLst>
          </p:cNvPr>
          <p:cNvSpPr txBox="1"/>
          <p:nvPr/>
        </p:nvSpPr>
        <p:spPr>
          <a:xfrm>
            <a:off x="7771954" y="668350"/>
            <a:ext cx="1400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🌊</a:t>
            </a:r>
            <a:r>
              <a:rPr lang="zh-CN" altLang="en-US" sz="3000" dirty="0"/>
              <a:t> </a:t>
            </a:r>
            <a:r>
              <a:rPr lang="en-US" altLang="zh-CN" sz="3000" dirty="0"/>
              <a:t>☠️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4828A1-1A13-E73E-E7B8-5E5493327EB5}"/>
              </a:ext>
            </a:extLst>
          </p:cNvPr>
          <p:cNvSpPr txBox="1"/>
          <p:nvPr/>
        </p:nvSpPr>
        <p:spPr>
          <a:xfrm>
            <a:off x="9135727" y="668350"/>
            <a:ext cx="1400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🌊</a:t>
            </a:r>
            <a:r>
              <a:rPr lang="zh-CN" altLang="en-US" sz="3000" dirty="0"/>
              <a:t> </a:t>
            </a:r>
            <a:r>
              <a:rPr lang="en-US" altLang="zh-CN" sz="3000" dirty="0"/>
              <a:t>☠️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243B57C-B631-1FB2-A9D9-33E26EC8F9FF}"/>
              </a:ext>
            </a:extLst>
          </p:cNvPr>
          <p:cNvSpPr txBox="1"/>
          <p:nvPr/>
        </p:nvSpPr>
        <p:spPr>
          <a:xfrm>
            <a:off x="10553820" y="668350"/>
            <a:ext cx="1400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🌊</a:t>
            </a:r>
            <a:r>
              <a:rPr lang="zh-CN" altLang="en-US" sz="3000" dirty="0"/>
              <a:t> </a:t>
            </a:r>
            <a:r>
              <a:rPr lang="en-US" altLang="zh-CN" sz="3000" dirty="0"/>
              <a:t>☠️</a:t>
            </a:r>
          </a:p>
        </p:txBody>
      </p:sp>
    </p:spTree>
    <p:extLst>
      <p:ext uri="{BB962C8B-B14F-4D97-AF65-F5344CB8AC3E}">
        <p14:creationId xmlns:p14="http://schemas.microsoft.com/office/powerpoint/2010/main" val="184985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548</Words>
  <Application>Microsoft Macintosh PowerPoint</Application>
  <PresentationFormat>宽屏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Predicting Building - Level Flood Risk by Analysis Comparison of Multi-Layer Perceptron and Bayesian Logistic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Lang Shao</dc:creator>
  <cp:lastModifiedBy>Lang Shao</cp:lastModifiedBy>
  <cp:revision>7</cp:revision>
  <dcterms:created xsi:type="dcterms:W3CDTF">2026-04-14T22:51:29Z</dcterms:created>
  <dcterms:modified xsi:type="dcterms:W3CDTF">2026-04-14T23:25:19Z</dcterms:modified>
</cp:coreProperties>
</file>